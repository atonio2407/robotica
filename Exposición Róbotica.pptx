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8" r:id="rId3"/>
    <p:sldId id="257" r:id="rId4"/>
    <p:sldId id="267" r:id="rId5"/>
    <p:sldId id="270" r:id="rId6"/>
    <p:sldId id="258" r:id="rId7"/>
    <p:sldId id="259" r:id="rId8"/>
    <p:sldId id="260" r:id="rId9"/>
    <p:sldId id="26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3" r:id="rId20"/>
    <p:sldId id="281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5E1"/>
    <a:srgbClr val="7B8595"/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E4CC5-3F83-46A8-84BC-504578976D4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1B2D3-CCD7-4F73-9A60-152FA5E1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1B2D3-CCD7-4F73-9A60-152FA5E155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69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1B2D3-CCD7-4F73-9A60-152FA5E155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4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8700" y="2161430"/>
            <a:ext cx="1112139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Montserrat"/>
              </a:rPr>
              <a:t>Exposición Grupo 3:</a:t>
            </a:r>
            <a:r>
              <a:t>
</a:t>
            </a:r>
            <a:r>
              <a:rPr sz="4200" b="1" i="0" u="none">
                <a:solidFill>
                  <a:srgbClr val="00E5FF"/>
                </a:solidFill>
                <a:latin typeface="Montserrat"/>
              </a:rPr>
              <a:t>Cinemática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822352"/>
            <a:ext cx="10591800" cy="2568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Transmisiones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,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Programación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y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Representación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de la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Orientación</a:t>
            </a:r>
            <a:r>
              <a:rPr dirty="0">
                <a:solidFill>
                  <a:schemeClr val="bg1"/>
                </a:solidFill>
              </a:rPr>
              <a:t>
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Robótica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Industrial -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Análisis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y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Aplicación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en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Dobot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Magician</a:t>
            </a:r>
            <a:endParaRPr lang="en-US" sz="1800" b="0" i="0" u="none" dirty="0">
              <a:solidFill>
                <a:schemeClr val="bg1"/>
              </a:solidFill>
              <a:latin typeface="Roboto Light"/>
            </a:endParaRPr>
          </a:p>
          <a:p>
            <a:pPr algn="l">
              <a:lnSpc>
                <a:spcPts val="2879"/>
              </a:lnSpc>
            </a:pPr>
            <a:endParaRPr lang="en-US" dirty="0">
              <a:solidFill>
                <a:schemeClr val="bg1"/>
              </a:solidFill>
              <a:latin typeface="Roboto Light"/>
            </a:endParaRPr>
          </a:p>
          <a:p>
            <a:pPr algn="l">
              <a:lnSpc>
                <a:spcPts val="2879"/>
              </a:lnSpc>
            </a:pPr>
            <a:endParaRPr lang="en-US" sz="1800" b="0" i="0" u="none" dirty="0">
              <a:solidFill>
                <a:schemeClr val="bg1"/>
              </a:solidFill>
              <a:latin typeface="Roboto Light"/>
            </a:endParaRPr>
          </a:p>
          <a:p>
            <a:pPr algn="l">
              <a:lnSpc>
                <a:spcPts val="2879"/>
              </a:lnSpc>
            </a:pPr>
            <a:r>
              <a:rPr lang="en-US" dirty="0">
                <a:solidFill>
                  <a:schemeClr val="bg1"/>
                </a:solidFill>
                <a:latin typeface="Roboto Light"/>
              </a:rPr>
              <a:t>Jesús Hernández</a:t>
            </a:r>
          </a:p>
          <a:p>
            <a:pPr algn="l">
              <a:lnSpc>
                <a:spcPts val="2879"/>
              </a:lnSpc>
            </a:pPr>
            <a:r>
              <a:rPr lang="en-US" sz="1800" b="0" i="0" u="none" dirty="0">
                <a:solidFill>
                  <a:schemeClr val="bg1"/>
                </a:solidFill>
                <a:latin typeface="Roboto Light"/>
              </a:rPr>
              <a:t>Adrián Martínez</a:t>
            </a:r>
          </a:p>
          <a:p>
            <a:pPr algn="l">
              <a:lnSpc>
                <a:spcPts val="2879"/>
              </a:lnSpc>
            </a:pPr>
            <a:r>
              <a:rPr lang="en-US" sz="1800" b="0" i="0" u="none" dirty="0" err="1">
                <a:solidFill>
                  <a:schemeClr val="bg1"/>
                </a:solidFill>
                <a:latin typeface="Roboto Light"/>
              </a:rPr>
              <a:t>Yeiner</a:t>
            </a:r>
            <a:r>
              <a:rPr lang="en-US" sz="1800" b="0" i="0" u="none" dirty="0">
                <a:solidFill>
                  <a:schemeClr val="bg1"/>
                </a:solidFill>
                <a:latin typeface="Roboto Light"/>
              </a:rPr>
              <a:t> </a:t>
            </a:r>
            <a:r>
              <a:rPr lang="en-US" dirty="0">
                <a:solidFill>
                  <a:schemeClr val="bg1"/>
                </a:solidFill>
                <a:latin typeface="Roboto Light"/>
              </a:rPr>
              <a:t>Castro</a:t>
            </a:r>
            <a:endParaRPr sz="1800" b="0" i="0" u="none" dirty="0">
              <a:solidFill>
                <a:schemeClr val="bg1"/>
              </a:solidFill>
              <a:latin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7D1C4-19C4-87D7-0592-95947FBD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5DABE6-B2F5-D4E7-B22D-7999E39D51BE}"/>
              </a:ext>
            </a:extLst>
          </p:cNvPr>
          <p:cNvSpPr txBox="1"/>
          <p:nvPr/>
        </p:nvSpPr>
        <p:spPr>
          <a:xfrm>
            <a:off x="571500" y="200025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78CDE4-FF4B-F12B-D93C-DE525F4AFC8C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E06BE-8FC4-E5EB-A229-0A4DDE814BA5}"/>
              </a:ext>
            </a:extLst>
          </p:cNvPr>
          <p:cNvSpPr txBox="1"/>
          <p:nvPr/>
        </p:nvSpPr>
        <p:spPr>
          <a:xfrm>
            <a:off x="571500" y="18455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características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dinámicas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robots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industriales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dependen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críticamente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transmisión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602B4D4D-B8A5-C430-430C-A94F7A443198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2785592" y="2619527"/>
            <a:ext cx="1248717" cy="1104901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F29F78-4ADC-D66F-10E2-A520EC6CFFF9}"/>
              </a:ext>
            </a:extLst>
          </p:cNvPr>
          <p:cNvSpPr txBox="1"/>
          <p:nvPr/>
        </p:nvSpPr>
        <p:spPr>
          <a:xfrm>
            <a:off x="3962401" y="33346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motores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eléctricos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utilizados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(paso a paso o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servomotores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óptimamente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velocidades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bajo par.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6E1223-A25A-3D48-B003-0A03709CA8D5}"/>
              </a:ext>
            </a:extLst>
          </p:cNvPr>
          <p:cNvSpPr txBox="1"/>
          <p:nvPr/>
        </p:nvSpPr>
        <p:spPr>
          <a:xfrm>
            <a:off x="5842003" y="54005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articulaciones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robóticas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exigen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exactamente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opuesto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carga (torque) a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velocidades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moderadas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bajas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B59C75EA-CDCA-7680-7A03-F6812923911D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4506497" y="4526703"/>
            <a:ext cx="1604209" cy="106680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 descr="11.2. APLICACIÓN EN CINEMÁTICA DIRECTA E INVERSA. Copy – Aldea TDO">
            <a:extLst>
              <a:ext uri="{FF2B5EF4-FFF2-40B4-BE49-F238E27FC236}">
                <a16:creationId xmlns:a16="http://schemas.microsoft.com/office/drawing/2014/main" id="{6D72698D-788D-C3DD-32DF-89BAC69B6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743"/>
            <a:ext cx="3054055" cy="218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1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9084" y="1410283"/>
            <a:ext cx="9433832" cy="596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b="0" i="0" u="none" dirty="0">
                <a:solidFill>
                  <a:srgbClr val="FFFFFF"/>
                </a:solidFill>
                <a:latin typeface="Roboto Medium"/>
              </a:rPr>
              <a:t>Las </a:t>
            </a:r>
            <a:r>
              <a:rPr b="0" i="0" u="none" dirty="0" err="1">
                <a:solidFill>
                  <a:srgbClr val="FFFFFF"/>
                </a:solidFill>
                <a:latin typeface="Roboto Medium"/>
              </a:rPr>
              <a:t>transmisiones</a:t>
            </a:r>
            <a:r>
              <a:rPr b="0" i="0" u="none" dirty="0">
                <a:solidFill>
                  <a:srgbClr val="FFFFFF"/>
                </a:solidFill>
                <a:latin typeface="Roboto Medium"/>
              </a:rPr>
              <a:t>: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Sistemas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mecánicos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encargados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transferir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potencia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desde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el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actuador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hasta la articulación del robot (Barrientos et al., </a:t>
            </a:r>
            <a:r>
              <a:rPr b="0" i="1" u="none" dirty="0" err="1">
                <a:solidFill>
                  <a:srgbClr val="CBD5E1"/>
                </a:solidFill>
                <a:latin typeface="Roboto"/>
              </a:rPr>
              <a:t>Fundamentos</a:t>
            </a:r>
            <a:r>
              <a:rPr b="0" i="1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b="0" i="1" u="none" dirty="0" err="1">
                <a:solidFill>
                  <a:srgbClr val="CBD5E1"/>
                </a:solidFill>
                <a:latin typeface="Roboto"/>
              </a:rPr>
              <a:t>robótica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0025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90EA29-225F-A047-8C87-A451BECFA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106" y="2187345"/>
            <a:ext cx="6807787" cy="36962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C3F1B7-0747-6EF4-338B-A676A2635C96}"/>
              </a:ext>
            </a:extLst>
          </p:cNvPr>
          <p:cNvSpPr txBox="1"/>
          <p:nvPr/>
        </p:nvSpPr>
        <p:spPr>
          <a:xfrm>
            <a:off x="3258684" y="6064306"/>
            <a:ext cx="9433832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b="0" i="0" u="none" dirty="0" err="1">
                <a:solidFill>
                  <a:srgbClr val="FFFFFF"/>
                </a:solidFill>
                <a:latin typeface="Roboto Medium"/>
              </a:rPr>
              <a:t>Tomado</a:t>
            </a:r>
            <a:r>
              <a:rPr lang="en-US" b="0" i="0" u="none" dirty="0">
                <a:solidFill>
                  <a:srgbClr val="FFFFFF"/>
                </a:solidFill>
                <a:latin typeface="Roboto Medium"/>
              </a:rPr>
              <a:t> de Barrientos et al., </a:t>
            </a:r>
            <a:r>
              <a:rPr lang="en-US" b="0" i="1" u="none" dirty="0" err="1">
                <a:solidFill>
                  <a:srgbClr val="FFFFFF"/>
                </a:solidFill>
                <a:latin typeface="Roboto Medium"/>
              </a:rPr>
              <a:t>Fundamentos</a:t>
            </a:r>
            <a:r>
              <a:rPr lang="en-US" b="0" i="1" u="none" dirty="0">
                <a:solidFill>
                  <a:srgbClr val="FFFFFF"/>
                </a:solidFill>
                <a:latin typeface="Roboto Medium"/>
              </a:rPr>
              <a:t> de </a:t>
            </a:r>
            <a:r>
              <a:rPr lang="en-US" b="0" i="1" u="none" dirty="0" err="1">
                <a:solidFill>
                  <a:srgbClr val="FFFFFF"/>
                </a:solidFill>
                <a:latin typeface="Roboto Medium"/>
              </a:rPr>
              <a:t>robótica</a:t>
            </a:r>
            <a:endParaRPr b="0" i="1" u="none" dirty="0">
              <a:solidFill>
                <a:srgbClr val="CBD5E1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125DE-9142-41A3-0CAD-96DFE6AD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11311-E69A-C596-475D-4BBCEBBCDF20}"/>
              </a:ext>
            </a:extLst>
          </p:cNvPr>
          <p:cNvSpPr txBox="1"/>
          <p:nvPr/>
        </p:nvSpPr>
        <p:spPr>
          <a:xfrm>
            <a:off x="1143000" y="2171007"/>
            <a:ext cx="495300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Reductores</a:t>
            </a:r>
            <a:r>
              <a:rPr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es-ES" b="0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encargados de adaptar el par y la velocidad de la salida del actuador a los valores adecuados para el movimiento de los elementos del robot</a:t>
            </a:r>
            <a:r>
              <a:rPr lang="en-US" b="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solidFill>
                  <a:srgbClr val="CBD5E1"/>
                </a:solidFill>
                <a:latin typeface="Roboto"/>
              </a:rPr>
              <a:t>(Barrientos et al., </a:t>
            </a:r>
            <a:r>
              <a:rPr lang="en-US" i="1" dirty="0" err="1">
                <a:solidFill>
                  <a:srgbClr val="CBD5E1"/>
                </a:solidFill>
                <a:latin typeface="Roboto"/>
              </a:rPr>
              <a:t>Fundamentos</a:t>
            </a:r>
            <a:r>
              <a:rPr lang="en-US" i="1" dirty="0">
                <a:solidFill>
                  <a:srgbClr val="CBD5E1"/>
                </a:solidFill>
                <a:latin typeface="Roboto"/>
              </a:rPr>
              <a:t> de </a:t>
            </a:r>
            <a:r>
              <a:rPr lang="en-US" i="1" dirty="0" err="1">
                <a:solidFill>
                  <a:srgbClr val="CBD5E1"/>
                </a:solidFill>
                <a:latin typeface="Roboto"/>
              </a:rPr>
              <a:t>robótica</a:t>
            </a:r>
            <a:r>
              <a:rPr lang="en-US" dirty="0">
                <a:solidFill>
                  <a:srgbClr val="CBD5E1"/>
                </a:solidFill>
                <a:latin typeface="Roboto"/>
              </a:rPr>
              <a:t>).</a:t>
            </a:r>
            <a:r>
              <a:rPr lang="en-US" b="0" i="0" u="none" dirty="0">
                <a:solidFill>
                  <a:srgbClr val="CBD5E1"/>
                </a:solidFill>
                <a:latin typeface="Roboto Medium"/>
              </a:rPr>
              <a:t> 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9186A-A2A5-C6FB-0718-2DFA852BEFAF}"/>
              </a:ext>
            </a:extLst>
          </p:cNvPr>
          <p:cNvSpPr txBox="1"/>
          <p:nvPr/>
        </p:nvSpPr>
        <p:spPr>
          <a:xfrm>
            <a:off x="571500" y="571500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9C157F-4FE1-1CA4-EF7B-92722D1C3A4A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1C45D30-4282-918F-3070-DFA8EE3DD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731008"/>
            <a:ext cx="114300" cy="200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20C9BE-6571-78FE-F4E6-4D0D91A2D1AB}"/>
              </a:ext>
            </a:extLst>
          </p:cNvPr>
          <p:cNvSpPr txBox="1"/>
          <p:nvPr/>
        </p:nvSpPr>
        <p:spPr>
          <a:xfrm>
            <a:off x="7263211" y="4566233"/>
            <a:ext cx="3684742" cy="596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dirty="0" err="1">
                <a:solidFill>
                  <a:srgbClr val="FFFFFF"/>
                </a:solidFill>
                <a:latin typeface="Roboto Medium"/>
              </a:rPr>
              <a:t>Ejemplo</a:t>
            </a:r>
            <a:r>
              <a:rPr lang="en-US" dirty="0">
                <a:solidFill>
                  <a:srgbClr val="FFFFFF"/>
                </a:solidFill>
                <a:latin typeface="Roboto Medium"/>
              </a:rPr>
              <a:t>:</a:t>
            </a:r>
            <a:r>
              <a:rPr lang="en-US" dirty="0">
                <a:solidFill>
                  <a:srgbClr val="CBD5E1"/>
                </a:solidFill>
                <a:latin typeface="Roboto Medium"/>
              </a:rPr>
              <a:t> r</a:t>
            </a:r>
            <a:r>
              <a:rPr lang="en-US" i="0" u="none" dirty="0">
                <a:solidFill>
                  <a:srgbClr val="CBD5E1"/>
                </a:solidFill>
                <a:latin typeface="Roboto Medium"/>
              </a:rPr>
              <a:t>eductor de </a:t>
            </a:r>
            <a:r>
              <a:rPr lang="en-US" i="0" u="none" dirty="0" err="1">
                <a:solidFill>
                  <a:srgbClr val="CBD5E1"/>
                </a:solidFill>
                <a:latin typeface="Roboto Medium"/>
              </a:rPr>
              <a:t>velocidad</a:t>
            </a:r>
            <a:r>
              <a:rPr lang="en-US" i="0" u="none" dirty="0">
                <a:solidFill>
                  <a:srgbClr val="CBD5E1"/>
                </a:solidFill>
                <a:latin typeface="Roboto Medium"/>
              </a:rPr>
              <a:t> para robots.</a:t>
            </a:r>
            <a:endParaRPr i="1" u="none" dirty="0">
              <a:solidFill>
                <a:srgbClr val="CBD5E1"/>
              </a:solidFill>
              <a:latin typeface="Roboto"/>
            </a:endParaRPr>
          </a:p>
        </p:txBody>
      </p:sp>
      <p:pic>
        <p:nvPicPr>
          <p:cNvPr id="22" name="Picture 21" descr="Reductores para Robots | Neugart">
            <a:extLst>
              <a:ext uri="{FF2B5EF4-FFF2-40B4-BE49-F238E27FC236}">
                <a16:creationId xmlns:a16="http://schemas.microsoft.com/office/drawing/2014/main" id="{EC2F2451-B3BD-EA8F-6807-26803744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763" y="2731008"/>
            <a:ext cx="2351637" cy="1955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C70E7B-3F70-3F69-1782-A2DE3D3F3A40}"/>
              </a:ext>
            </a:extLst>
          </p:cNvPr>
          <p:cNvSpPr txBox="1"/>
          <p:nvPr/>
        </p:nvSpPr>
        <p:spPr>
          <a:xfrm>
            <a:off x="1143000" y="4022947"/>
            <a:ext cx="4953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actuador entrega su movimiento a un eje de alta velocidad. Este se conecta a un primer engranaje del reductor, que es un piñón, y engrana con otro piñón más grande (una rueda) con más dientes.</a:t>
            </a:r>
          </a:p>
          <a:p>
            <a:pPr algn="just"/>
            <a:endParaRPr lang="es-ES" sz="1800" i="0" u="none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es-ES" sz="180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la diferencia del número de dientes, la rueda gira a una velocidad menor a la del piñón, pero con más par</a:t>
            </a:r>
            <a:endParaRPr lang="en-US" sz="1800" dirty="0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2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AE094-DF25-E4D6-61E8-34F00BE4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DF66B1-5774-E92D-0675-C1B46B48ACFB}"/>
              </a:ext>
            </a:extLst>
          </p:cNvPr>
          <p:cNvSpPr txBox="1"/>
          <p:nvPr/>
        </p:nvSpPr>
        <p:spPr>
          <a:xfrm>
            <a:off x="4695825" y="2150415"/>
            <a:ext cx="2800350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FUNDAMENTOS FISICOS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C675F-AA47-2D05-4A8D-1DE78E033856}"/>
              </a:ext>
            </a:extLst>
          </p:cNvPr>
          <p:cNvSpPr txBox="1"/>
          <p:nvPr/>
        </p:nvSpPr>
        <p:spPr>
          <a:xfrm>
            <a:off x="571500" y="571500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8D300-008A-BA32-65F6-1D92DB8B9167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29054-DC58-820E-E4F5-ED824188E8E3}"/>
              </a:ext>
            </a:extLst>
          </p:cNvPr>
          <p:cNvSpPr txBox="1"/>
          <p:nvPr/>
        </p:nvSpPr>
        <p:spPr>
          <a:xfrm>
            <a:off x="2338161" y="2833294"/>
            <a:ext cx="171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Roboto Medium"/>
              </a:rPr>
              <a:t>T</a:t>
            </a:r>
            <a:r>
              <a:rPr lang="en-US" sz="1800" b="1" i="0" u="none" dirty="0" err="1">
                <a:solidFill>
                  <a:srgbClr val="FFFFFF"/>
                </a:solidFill>
                <a:latin typeface="Roboto Medium"/>
              </a:rPr>
              <a:t>ransmisores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83D18F-A553-DE03-3716-9822A6A8AC82}"/>
              </a:ext>
            </a:extLst>
          </p:cNvPr>
          <p:cNvSpPr txBox="1"/>
          <p:nvPr/>
        </p:nvSpPr>
        <p:spPr>
          <a:xfrm>
            <a:off x="7334250" y="2874872"/>
            <a:ext cx="2670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Roboto Medium"/>
              </a:rPr>
              <a:t>Reductores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2D8F1-F3FE-D10E-C96D-907001545D84}"/>
              </a:ext>
            </a:extLst>
          </p:cNvPr>
          <p:cNvSpPr txBox="1"/>
          <p:nvPr/>
        </p:nvSpPr>
        <p:spPr>
          <a:xfrm>
            <a:off x="7203621" y="3387292"/>
            <a:ext cx="2931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CBD5E1"/>
                </a:solidFill>
              </a:rPr>
              <a:t>Conservación</a:t>
            </a:r>
            <a:r>
              <a:rPr lang="en-US" b="1" dirty="0">
                <a:solidFill>
                  <a:srgbClr val="CBD5E1"/>
                </a:solidFill>
              </a:rPr>
              <a:t> de la </a:t>
            </a:r>
            <a:r>
              <a:rPr lang="en-US" b="1" dirty="0" err="1">
                <a:solidFill>
                  <a:srgbClr val="CBD5E1"/>
                </a:solidFill>
              </a:rPr>
              <a:t>Potencia</a:t>
            </a:r>
            <a:endParaRPr lang="en-US" b="1" dirty="0">
              <a:solidFill>
                <a:srgbClr val="CBD5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3A39AB-82B5-4C82-F050-39D9AD7C102E}"/>
                  </a:ext>
                </a:extLst>
              </p:cNvPr>
              <p:cNvSpPr txBox="1"/>
              <p:nvPr/>
            </p:nvSpPr>
            <p:spPr>
              <a:xfrm>
                <a:off x="6310992" y="3852147"/>
                <a:ext cx="4717143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 err="1">
                    <a:solidFill>
                      <a:srgbClr val="CBD5E1"/>
                    </a:solidFill>
                  </a:rPr>
                  <a:t>Basados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en</a:t>
                </a:r>
                <a:r>
                  <a:rPr lang="en-US" dirty="0">
                    <a:solidFill>
                      <a:srgbClr val="CBD5E1"/>
                    </a:solidFill>
                  </a:rPr>
                  <a:t> la </a:t>
                </a:r>
                <a:r>
                  <a:rPr lang="en-US" dirty="0" err="1">
                    <a:solidFill>
                      <a:srgbClr val="CBD5E1"/>
                    </a:solidFill>
                  </a:rPr>
                  <a:t>igualdad</a:t>
                </a:r>
                <a:r>
                  <a:rPr lang="en-US" dirty="0">
                    <a:solidFill>
                      <a:srgbClr val="CBD5E1"/>
                    </a:solidFill>
                  </a:rPr>
                  <a:t> ideal de </a:t>
                </a:r>
                <a:r>
                  <a:rPr lang="en-US" dirty="0" err="1">
                    <a:solidFill>
                      <a:srgbClr val="CBD5E1"/>
                    </a:solidFill>
                  </a:rPr>
                  <a:t>potencia</a:t>
                </a:r>
                <a:r>
                  <a:rPr lang="en-US" dirty="0">
                    <a:solidFill>
                      <a:srgbClr val="CBD5E1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motor</m:t>
                        </m:r>
                      </m:sub>
                    </m:sSub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motor</m:t>
                        </m:r>
                      </m:sub>
                    </m:sSub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salida</m:t>
                        </m:r>
                      </m:sub>
                    </m:sSub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salida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BD5E1"/>
                    </a:solidFill>
                  </a:rPr>
                  <a:t>). Al </a:t>
                </a:r>
                <a:r>
                  <a:rPr lang="en-US" dirty="0" err="1">
                    <a:solidFill>
                      <a:srgbClr val="CBD5E1"/>
                    </a:solidFill>
                  </a:rPr>
                  <a:t>desmultiplicar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mecánicamente</a:t>
                </a:r>
                <a:r>
                  <a:rPr lang="en-US" dirty="0">
                    <a:solidFill>
                      <a:srgbClr val="CBD5E1"/>
                    </a:solidFill>
                  </a:rPr>
                  <a:t> la </a:t>
                </a:r>
                <a:r>
                  <a:rPr lang="en-US" dirty="0" err="1">
                    <a:solidFill>
                      <a:srgbClr val="CBD5E1"/>
                    </a:solidFill>
                  </a:rPr>
                  <a:t>velocidad</a:t>
                </a:r>
                <a:r>
                  <a:rPr lang="en-US" dirty="0">
                    <a:solidFill>
                      <a:srgbClr val="CBD5E1"/>
                    </a:solidFill>
                  </a:rPr>
                  <a:t> angular (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rgbClr val="CBD5E1"/>
                    </a:solidFill>
                  </a:rPr>
                  <a:t>), el </a:t>
                </a:r>
                <a:r>
                  <a:rPr lang="en-US" dirty="0" err="1">
                    <a:solidFill>
                      <a:srgbClr val="CBD5E1"/>
                    </a:solidFill>
                  </a:rPr>
                  <a:t>sistema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multiplica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inversamente</a:t>
                </a:r>
                <a:r>
                  <a:rPr lang="en-US" dirty="0">
                    <a:solidFill>
                      <a:srgbClr val="CBD5E1"/>
                    </a:solidFill>
                  </a:rPr>
                  <a:t> el par de salida (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solidFill>
                      <a:srgbClr val="CBD5E1"/>
                    </a:solidFill>
                  </a:rPr>
                  <a:t>) para mover cargas </a:t>
                </a:r>
                <a:r>
                  <a:rPr lang="en-US" dirty="0" err="1">
                    <a:solidFill>
                      <a:srgbClr val="CBD5E1"/>
                    </a:solidFill>
                  </a:rPr>
                  <a:t>pesadas</a:t>
                </a:r>
                <a:r>
                  <a:rPr lang="en-US" dirty="0">
                    <a:solidFill>
                      <a:srgbClr val="CBD5E1"/>
                    </a:solidFill>
                  </a:rPr>
                  <a:t> sin </a:t>
                </a:r>
                <a:r>
                  <a:rPr lang="en-US" dirty="0" err="1">
                    <a:solidFill>
                      <a:srgbClr val="CBD5E1"/>
                    </a:solidFill>
                  </a:rPr>
                  <a:t>sobrecalentar</a:t>
                </a:r>
                <a:r>
                  <a:rPr lang="en-US" dirty="0">
                    <a:solidFill>
                      <a:srgbClr val="CBD5E1"/>
                    </a:solidFill>
                  </a:rPr>
                  <a:t> el motor.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3A39AB-82B5-4C82-F050-39D9AD7C1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992" y="3852147"/>
                <a:ext cx="4717143" cy="1754326"/>
              </a:xfrm>
              <a:prstGeom prst="rect">
                <a:avLst/>
              </a:prstGeom>
              <a:blipFill>
                <a:blip r:embed="rId3"/>
                <a:stretch>
                  <a:fillRect l="-1034" t="-2083" r="-1163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DC6D4FD-FBAB-A11F-38BB-65050554BA31}"/>
              </a:ext>
            </a:extLst>
          </p:cNvPr>
          <p:cNvSpPr txBox="1"/>
          <p:nvPr/>
        </p:nvSpPr>
        <p:spPr>
          <a:xfrm>
            <a:off x="1163865" y="3383208"/>
            <a:ext cx="40612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CBD5E1"/>
                </a:solidFill>
              </a:rPr>
              <a:t>Reducción</a:t>
            </a:r>
            <a:r>
              <a:rPr lang="en-US" b="1" dirty="0">
                <a:solidFill>
                  <a:srgbClr val="CBD5E1"/>
                </a:solidFill>
              </a:rPr>
              <a:t> del </a:t>
            </a:r>
            <a:r>
              <a:rPr lang="en-US" b="1" dirty="0" err="1">
                <a:solidFill>
                  <a:srgbClr val="CBD5E1"/>
                </a:solidFill>
              </a:rPr>
              <a:t>momento</a:t>
            </a:r>
            <a:r>
              <a:rPr lang="en-US" b="1" dirty="0">
                <a:solidFill>
                  <a:srgbClr val="CBD5E1"/>
                </a:solidFill>
              </a:rPr>
              <a:t> de </a:t>
            </a:r>
            <a:r>
              <a:rPr lang="en-US" b="1" dirty="0" err="1">
                <a:solidFill>
                  <a:srgbClr val="CBD5E1"/>
                </a:solidFill>
              </a:rPr>
              <a:t>Inercia</a:t>
            </a:r>
            <a:endParaRPr lang="en-US" b="1" dirty="0">
              <a:solidFill>
                <a:srgbClr val="CBD5E1"/>
              </a:solidFill>
            </a:endParaRPr>
          </a:p>
          <a:p>
            <a:pPr algn="just"/>
            <a:endParaRPr lang="en-US" dirty="0">
              <a:solidFill>
                <a:srgbClr val="CBD5E1"/>
              </a:solidFill>
            </a:endParaRPr>
          </a:p>
          <a:p>
            <a:pPr algn="just"/>
            <a:r>
              <a:rPr lang="en-US" dirty="0" err="1">
                <a:solidFill>
                  <a:srgbClr val="CBD5E1"/>
                </a:solidFill>
              </a:rPr>
              <a:t>Permiten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trasladar</a:t>
            </a:r>
            <a:r>
              <a:rPr lang="en-US" dirty="0">
                <a:solidFill>
                  <a:srgbClr val="CBD5E1"/>
                </a:solidFill>
              </a:rPr>
              <a:t> la </a:t>
            </a:r>
            <a:r>
              <a:rPr lang="en-US" dirty="0" err="1">
                <a:solidFill>
                  <a:srgbClr val="CBD5E1"/>
                </a:solidFill>
              </a:rPr>
              <a:t>potencia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mecánica</a:t>
            </a:r>
            <a:r>
              <a:rPr lang="en-US" dirty="0">
                <a:solidFill>
                  <a:srgbClr val="CBD5E1"/>
                </a:solidFill>
              </a:rPr>
              <a:t> a </a:t>
            </a:r>
            <a:r>
              <a:rPr lang="en-US" dirty="0" err="1">
                <a:solidFill>
                  <a:srgbClr val="CBD5E1"/>
                </a:solidFill>
              </a:rPr>
              <a:t>distancia</a:t>
            </a:r>
            <a:r>
              <a:rPr lang="en-US" dirty="0">
                <a:solidFill>
                  <a:srgbClr val="CBD5E1"/>
                </a:solidFill>
              </a:rPr>
              <a:t> (</a:t>
            </a:r>
            <a:r>
              <a:rPr lang="en-US" dirty="0" err="1">
                <a:solidFill>
                  <a:srgbClr val="CBD5E1"/>
                </a:solidFill>
              </a:rPr>
              <a:t>mediante</a:t>
            </a:r>
            <a:r>
              <a:rPr lang="en-US" dirty="0">
                <a:solidFill>
                  <a:srgbClr val="CBD5E1"/>
                </a:solidFill>
              </a:rPr>
              <a:t> correas, </a:t>
            </a:r>
            <a:r>
              <a:rPr lang="en-US" dirty="0" err="1">
                <a:solidFill>
                  <a:srgbClr val="CBD5E1"/>
                </a:solidFill>
              </a:rPr>
              <a:t>cadenas</a:t>
            </a:r>
            <a:r>
              <a:rPr lang="en-US" dirty="0">
                <a:solidFill>
                  <a:srgbClr val="CBD5E1"/>
                </a:solidFill>
              </a:rPr>
              <a:t>, </a:t>
            </a:r>
            <a:r>
              <a:rPr lang="en-US" dirty="0" err="1">
                <a:solidFill>
                  <a:srgbClr val="CBD5E1"/>
                </a:solidFill>
              </a:rPr>
              <a:t>engranajes</a:t>
            </a:r>
            <a:r>
              <a:rPr lang="en-US" dirty="0">
                <a:solidFill>
                  <a:srgbClr val="CBD5E1"/>
                </a:solidFill>
              </a:rPr>
              <a:t>). </a:t>
            </a:r>
            <a:r>
              <a:rPr lang="en-US" dirty="0" err="1">
                <a:solidFill>
                  <a:srgbClr val="CBD5E1"/>
                </a:solidFill>
              </a:rPr>
              <a:t>Permiten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anclar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motores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pesados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en</a:t>
            </a:r>
            <a:r>
              <a:rPr lang="en-US" dirty="0">
                <a:solidFill>
                  <a:srgbClr val="CBD5E1"/>
                </a:solidFill>
              </a:rPr>
              <a:t> la base o </a:t>
            </a:r>
            <a:r>
              <a:rPr lang="en-US" dirty="0" err="1">
                <a:solidFill>
                  <a:srgbClr val="CBD5E1"/>
                </a:solidFill>
              </a:rPr>
              <a:t>eslabones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fijos</a:t>
            </a:r>
            <a:r>
              <a:rPr lang="en-US" dirty="0">
                <a:solidFill>
                  <a:srgbClr val="CBD5E1"/>
                </a:solidFill>
              </a:rPr>
              <a:t>, </a:t>
            </a:r>
            <a:r>
              <a:rPr lang="en-US" dirty="0" err="1">
                <a:solidFill>
                  <a:srgbClr val="CBD5E1"/>
                </a:solidFill>
              </a:rPr>
              <a:t>minimizando</a:t>
            </a:r>
            <a:r>
              <a:rPr lang="en-US" dirty="0">
                <a:solidFill>
                  <a:srgbClr val="CBD5E1"/>
                </a:solidFill>
              </a:rPr>
              <a:t> el </a:t>
            </a:r>
            <a:r>
              <a:rPr lang="en-US" dirty="0" err="1">
                <a:solidFill>
                  <a:srgbClr val="CBD5E1"/>
                </a:solidFill>
              </a:rPr>
              <a:t>momento</a:t>
            </a:r>
            <a:r>
              <a:rPr lang="en-US" dirty="0">
                <a:solidFill>
                  <a:srgbClr val="CBD5E1"/>
                </a:solidFill>
              </a:rPr>
              <a:t> de </a:t>
            </a:r>
            <a:r>
              <a:rPr lang="en-US" dirty="0" err="1">
                <a:solidFill>
                  <a:srgbClr val="CBD5E1"/>
                </a:solidFill>
              </a:rPr>
              <a:t>inercia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inútil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los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eslabones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móviles</a:t>
            </a:r>
            <a:r>
              <a:rPr lang="en-US" dirty="0">
                <a:solidFill>
                  <a:srgbClr val="CBD5E1"/>
                </a:solidFill>
              </a:rPr>
              <a:t> del extremo.</a:t>
            </a:r>
          </a:p>
        </p:txBody>
      </p:sp>
    </p:spTree>
    <p:extLst>
      <p:ext uri="{BB962C8B-B14F-4D97-AF65-F5344CB8AC3E}">
        <p14:creationId xmlns:p14="http://schemas.microsoft.com/office/powerpoint/2010/main" val="350742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24150"/>
            <a:ext cx="1104900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75" y="1327085"/>
            <a:ext cx="11049000" cy="894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Roboto"/>
              </a:rPr>
              <a:t>El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accionamiento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directo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elimina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transmisión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mecánica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(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uso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transmisores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)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y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los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reductores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acoplando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el motor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directamente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a la articulación. (Craig, J. J., </a:t>
            </a:r>
            <a:r>
              <a:rPr sz="1500" b="0" i="1" u="none" dirty="0" err="1">
                <a:solidFill>
                  <a:srgbClr val="CBD5E1"/>
                </a:solidFill>
                <a:latin typeface="Roboto"/>
              </a:rPr>
              <a:t>Robótica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, 2011).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s-ES" sz="1500" dirty="0">
                <a:solidFill>
                  <a:srgbClr val="CBD5E1"/>
                </a:solidFill>
                <a:latin typeface="Roboto"/>
              </a:rPr>
              <a:t>Los reductores introducen una serie de efectos negativos, que pueden impedir alcanzar los valores de precisión y velocidad requeridos.</a:t>
            </a:r>
            <a:endParaRPr sz="1500" b="0" i="0" u="none" dirty="0">
              <a:solidFill>
                <a:srgbClr val="CBD5E1"/>
              </a:solidFill>
              <a:latin typeface="Roboto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00731"/>
              </p:ext>
            </p:extLst>
          </p:nvPr>
        </p:nvGraphicFramePr>
        <p:xfrm>
          <a:off x="721995" y="2622232"/>
          <a:ext cx="11029950" cy="329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Ventajas</a:t>
                      </a:r>
                      <a:r>
                        <a:rPr sz="1800" b="1" i="0" u="none" dirty="0">
                          <a:solidFill>
                            <a:srgbClr val="00E5FF"/>
                          </a:solidFill>
                          <a:latin typeface="Montserrat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Principales</a:t>
                      </a:r>
                      <a:endParaRPr sz="1800" b="1" i="0" u="none" dirty="0">
                        <a:solidFill>
                          <a:srgbClr val="00E5FF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Desventajas</a:t>
                      </a:r>
                      <a:r>
                        <a:rPr sz="1800" b="1" i="0" u="none" dirty="0">
                          <a:solidFill>
                            <a:srgbClr val="00E5FF"/>
                          </a:solidFill>
                          <a:latin typeface="Montserrat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Críticas</a:t>
                      </a:r>
                      <a:endParaRPr sz="1800" b="1" i="0" u="none" dirty="0">
                        <a:solidFill>
                          <a:srgbClr val="00E5FF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Cero </a:t>
                      </a:r>
                      <a:r>
                        <a:rPr sz="1200" b="1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holgura</a:t>
                      </a:r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: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Al no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haber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sistemas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transmisión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, se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elimina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el juego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mecánico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,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mejorando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drásticamente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la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precisión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Requerimiento</a:t>
                      </a:r>
                      <a:r>
                        <a:rPr lang="en-US" sz="1200" b="1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de Torque Elevado: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Sin la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multiplicación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del reductor, el motor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debe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ser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sobredimensionado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en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volumen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y peso para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soportar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el par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estático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y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dinámico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sz="1200" b="0" i="0" u="none" dirty="0">
                        <a:solidFill>
                          <a:srgbClr val="CBD5E1"/>
                        </a:solidFill>
                        <a:latin typeface="Robo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Rigidez Dinámica: </a:t>
                      </a:r>
                      <a:r>
                        <a:rPr lang="es-E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Se reducen las vibraciones por flexibilidad mecánica, permitiendo anchos de banda de control superiores.</a:t>
                      </a:r>
                      <a:endParaRPr sz="1200" b="0" i="0" u="none" dirty="0">
                        <a:solidFill>
                          <a:srgbClr val="CBD5E1"/>
                        </a:solidFill>
                        <a:latin typeface="Robo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Carga </a:t>
                      </a:r>
                      <a:r>
                        <a:rPr sz="1200" b="1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térmica</a:t>
                      </a:r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: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Mayor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calentamiento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en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el motor al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soportar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la carga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directamente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Roboto"/>
                        </a:rPr>
                        <a:t>Mantenimiento:</a:t>
                      </a:r>
                      <a:r>
                        <a:rPr sz="1200" b="0" i="0" u="none">
                          <a:solidFill>
                            <a:srgbClr val="CBD5E1"/>
                          </a:solidFill>
                          <a:latin typeface="Roboto"/>
                        </a:rPr>
                        <a:t> Menor desgaste al reducir el número de piezas móviles.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Costo: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Los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servomotores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alto par son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sustancialmente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más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costosos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Por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ende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,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este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tipo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robots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tienen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un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costo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adquisición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marcadamente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elevado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3481387"/>
            <a:ext cx="52863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67400" y="3481387"/>
            <a:ext cx="5743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4329112"/>
            <a:ext cx="52863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67400" y="4329112"/>
            <a:ext cx="5743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5176837"/>
            <a:ext cx="52863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67400" y="5176837"/>
            <a:ext cx="5743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ACCIONAMIENTO DIRECTO (DIRECT DRIVE)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0737"/>
            <a:ext cx="5238750" cy="3686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90737"/>
            <a:ext cx="5238750" cy="368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238375"/>
            <a:ext cx="46805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Programación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por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Guiado</a:t>
            </a:r>
            <a:endParaRPr sz="2100" b="0" i="0" u="none" dirty="0">
              <a:solidFill>
                <a:srgbClr val="FFFFFF"/>
              </a:solidFill>
              <a:latin typeface="Montserrat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2025" y="2709863"/>
            <a:ext cx="4457700" cy="1817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1500" b="0" i="0" u="none" dirty="0">
                <a:solidFill>
                  <a:srgbClr val="CBD5E1"/>
                </a:solidFill>
                <a:latin typeface="Roboto"/>
              </a:rPr>
              <a:t> El robot es guiado consecutivamente  y manualmente por los puntos por los que se quiere que pase durante la fase de ejecución automática del programa. </a:t>
            </a:r>
            <a:r>
              <a:rPr lang="es-ES" sz="1500" dirty="0">
                <a:solidFill>
                  <a:srgbClr val="CBD5E1"/>
                </a:solidFill>
                <a:latin typeface="Roboto"/>
              </a:rPr>
              <a:t>En una programación por Guiado Extendido, se puede especificar velocidad y tipo de trayectoria.</a:t>
            </a:r>
            <a:endParaRPr sz="1500"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2025" y="4633912"/>
            <a:ext cx="4457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CBD5E1"/>
                </a:solidFill>
                <a:latin typeface="Roboto"/>
              </a:rPr>
              <a:t>Limitación</a:t>
            </a:r>
            <a:r>
              <a:rPr sz="1500" b="1" i="0" u="none" dirty="0">
                <a:solidFill>
                  <a:srgbClr val="CBD5E1"/>
                </a:solidFill>
                <a:latin typeface="Roboto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Requiere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sacar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al robot de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línea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producción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para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su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enseñanza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afectando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los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tiempos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ciclo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(Barrientos et al.).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81262"/>
            <a:ext cx="468058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Programación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por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Texto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073399"/>
            <a:ext cx="44577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 rtl="0" fontAlgn="base"/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Implementación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mediante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el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uso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lenguajes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programació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n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espec</a:t>
            </a:r>
            <a:r>
              <a:rPr lang="en-US" sz="1500" dirty="0" err="1">
                <a:solidFill>
                  <a:srgbClr val="CBD5E1"/>
                </a:solidFill>
                <a:latin typeface="Roboto"/>
              </a:rPr>
              <a:t>í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ficos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. (C++, Python, RAPID)</a:t>
            </a:r>
            <a:endParaRPr sz="1500"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83717" y="3871912"/>
            <a:ext cx="4457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CBD5E1"/>
                </a:solidFill>
                <a:latin typeface="Roboto"/>
              </a:rPr>
              <a:t>Ventaja</a:t>
            </a:r>
            <a:r>
              <a:rPr sz="1500" b="1" i="0" u="none" dirty="0">
                <a:solidFill>
                  <a:srgbClr val="CBD5E1"/>
                </a:solidFill>
                <a:latin typeface="Roboto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Permite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incluir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lógicas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algorítmicas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complejas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sentencias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control (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bucles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),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integración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con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visión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artificial y no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detiene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línea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productiva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durante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etapa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codificación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MÉTODOS DE PROGRAMACIÓN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C6810-738A-2CCB-5329-45F29D7C2D94}"/>
              </a:ext>
            </a:extLst>
          </p:cNvPr>
          <p:cNvSpPr txBox="1"/>
          <p:nvPr/>
        </p:nvSpPr>
        <p:spPr>
          <a:xfrm>
            <a:off x="571500" y="1279069"/>
            <a:ext cx="1104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lenguajes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interfaces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programación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clasifican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teóricamente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según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nivel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abstracción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(Barrientos et al., 2007):</a:t>
            </a:r>
            <a:endParaRPr lang="en-US" b="0" dirty="0">
              <a:solidFill>
                <a:srgbClr val="CBD5E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None/>
            </a:pPr>
            <a:b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1212"/>
            <a:ext cx="3429000" cy="3705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081212"/>
            <a:ext cx="3429000" cy="3705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081212"/>
            <a:ext cx="3429000" cy="3705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" y="3262312"/>
            <a:ext cx="288036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FFFFF"/>
                </a:solidFill>
                <a:latin typeface="Montserrat Medium"/>
              </a:rPr>
              <a:t>1. Instrucción 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2903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Roboto"/>
              </a:rPr>
              <a:t>El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operador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define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tarea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el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espacio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cartesiano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o articular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mediante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Programación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por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Texto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(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algoritmos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) o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Guiado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físico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5890" y="3262312"/>
            <a:ext cx="176022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FFFFF"/>
                </a:solidFill>
                <a:latin typeface="Montserrat Medium"/>
              </a:rPr>
              <a:t>2. Actuación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72903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Roboto"/>
              </a:rPr>
              <a:t>El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controlador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procesa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cinemática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inversa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y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envía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las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señales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corriente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y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voltaje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los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servomotores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articulares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873" y="3262312"/>
            <a:ext cx="203025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FFFFF"/>
                </a:solidFill>
                <a:latin typeface="Montserrat Medium"/>
              </a:rPr>
              <a:t>3. Transmisión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72903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Roboto"/>
              </a:rPr>
              <a:t>Los reductores físicos adaptan la alta velocidad del motor, multiplicando el par resultante hacia el efector final del robot.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962" y="2490787"/>
            <a:ext cx="600075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2490787"/>
            <a:ext cx="476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962" y="2490787"/>
            <a:ext cx="600075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ESQUEMA LÓGICO DEL SISTEMA ROBÓTICO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FC515D-B32E-547D-40EF-448C9128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4776850"/>
            <a:ext cx="10421804" cy="17909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4B6F2D4-F5BE-3CC1-155F-8FF7E584D2D6}"/>
              </a:ext>
            </a:extLst>
          </p:cNvPr>
          <p:cNvSpPr txBox="1"/>
          <p:nvPr/>
        </p:nvSpPr>
        <p:spPr>
          <a:xfrm>
            <a:off x="1384405" y="1884448"/>
            <a:ext cx="3548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orientación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un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cuerpo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rígido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espacio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tridimensional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respecto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un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referencia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fijo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3EFA59-C1FF-728D-2C09-35AE1DD21A5F}"/>
              </a:ext>
            </a:extLst>
          </p:cNvPr>
          <p:cNvSpPr txBox="1"/>
          <p:nvPr/>
        </p:nvSpPr>
        <p:spPr>
          <a:xfrm>
            <a:off x="1384405" y="3260628"/>
            <a:ext cx="3548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especificar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orden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movimientos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el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referencia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Se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adopta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convención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intrínseca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ZYX.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A68EB2-5264-B5F2-9B5F-EB774A010370}"/>
              </a:ext>
            </a:extLst>
          </p:cNvPr>
          <p:cNvSpPr txBox="1"/>
          <p:nvPr/>
        </p:nvSpPr>
        <p:spPr>
          <a:xfrm>
            <a:off x="1805952" y="1400316"/>
            <a:ext cx="3127375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Ángulos</a:t>
            </a:r>
            <a:r>
              <a:rPr lang="en-US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Ta</a:t>
            </a: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it-Bryan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0C8412-7BD4-08A5-7749-4DC4C09878C6}"/>
              </a:ext>
            </a:extLst>
          </p:cNvPr>
          <p:cNvGrpSpPr/>
          <p:nvPr/>
        </p:nvGrpSpPr>
        <p:grpSpPr>
          <a:xfrm>
            <a:off x="6245903" y="1308539"/>
            <a:ext cx="4577778" cy="3247530"/>
            <a:chOff x="6245903" y="1308539"/>
            <a:chExt cx="4577778" cy="324753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B40979A-250D-297B-2FE8-AA9D2B32B7FB}"/>
                </a:ext>
              </a:extLst>
            </p:cNvPr>
            <p:cNvGrpSpPr/>
            <p:nvPr/>
          </p:nvGrpSpPr>
          <p:grpSpPr>
            <a:xfrm>
              <a:off x="6245903" y="1308539"/>
              <a:ext cx="4577778" cy="3247530"/>
              <a:chOff x="6245903" y="1308539"/>
              <a:chExt cx="4577778" cy="324753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439966-77AF-8C6C-3BF1-ACFF788A7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5903" y="1308539"/>
                <a:ext cx="4577778" cy="3247530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5FE909A-4F11-8278-3761-5EECEDD8CA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993" t="25791" r="54600" b="58509"/>
              <a:stretch>
                <a:fillRect/>
              </a:stretch>
            </p:blipFill>
            <p:spPr>
              <a:xfrm>
                <a:off x="7734299" y="3551199"/>
                <a:ext cx="352426" cy="395070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DD4A95A0-846A-26BF-11BF-5FC52E54E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719" t="61244" r="54874" b="23056"/>
              <a:stretch>
                <a:fillRect/>
              </a:stretch>
            </p:blipFill>
            <p:spPr>
              <a:xfrm>
                <a:off x="9209479" y="1531898"/>
                <a:ext cx="301626" cy="338123"/>
              </a:xfrm>
              <a:prstGeom prst="rect">
                <a:avLst/>
              </a:prstGeom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BB341AB-CC42-F642-CE20-46F45219BF2F}"/>
                </a:ext>
              </a:extLst>
            </p:cNvPr>
            <p:cNvSpPr/>
            <p:nvPr/>
          </p:nvSpPr>
          <p:spPr>
            <a:xfrm>
              <a:off x="6494801" y="3463669"/>
              <a:ext cx="330200" cy="32517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E044599-01DF-22A7-E9E0-DD2BDD199C50}"/>
                </a:ext>
              </a:extLst>
            </p:cNvPr>
            <p:cNvSpPr/>
            <p:nvPr/>
          </p:nvSpPr>
          <p:spPr>
            <a:xfrm>
              <a:off x="8113712" y="1319397"/>
              <a:ext cx="206375" cy="32517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Z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FAC58D3-0486-D612-F9C6-C99265160150}"/>
                </a:ext>
              </a:extLst>
            </p:cNvPr>
            <p:cNvSpPr/>
            <p:nvPr/>
          </p:nvSpPr>
          <p:spPr>
            <a:xfrm>
              <a:off x="10033000" y="3844427"/>
              <a:ext cx="330200" cy="32517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</a:rPr>
                <a:t>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D2B6D-DFFA-C1BA-52D0-DDBB7EDF7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F29EB88-192C-3E62-0F7B-C0465A613673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B10B49-7EA1-DCE0-DF3F-E0C54AE24C18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4973A-766E-3B72-49E8-4A394F4D7C33}"/>
              </a:ext>
            </a:extLst>
          </p:cNvPr>
          <p:cNvSpPr txBox="1"/>
          <p:nvPr/>
        </p:nvSpPr>
        <p:spPr>
          <a:xfrm>
            <a:off x="4532312" y="1718872"/>
            <a:ext cx="3127375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SISTEMAS DE REFERENCIA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3B8865-C988-721A-7B96-1526040F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007861"/>
            <a:ext cx="4914969" cy="15859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9294F9-11EC-7B8F-CD5D-B9B86F0477D0}"/>
              </a:ext>
            </a:extLst>
          </p:cNvPr>
          <p:cNvSpPr txBox="1"/>
          <p:nvPr/>
        </p:nvSpPr>
        <p:spPr>
          <a:xfrm>
            <a:off x="2084161" y="2403354"/>
            <a:ext cx="171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Roboto Medium"/>
              </a:rPr>
              <a:t>INTRÍNSECA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AEBFAE-AEE0-30C3-67DC-224C40FBAA35}"/>
              </a:ext>
            </a:extLst>
          </p:cNvPr>
          <p:cNvSpPr txBox="1"/>
          <p:nvPr/>
        </p:nvSpPr>
        <p:spPr>
          <a:xfrm>
            <a:off x="7971960" y="2457208"/>
            <a:ext cx="171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Roboto Medium"/>
              </a:rPr>
              <a:t>EXTRÍNSECA</a:t>
            </a:r>
            <a:endParaRPr lang="en-US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BB5E67-306A-C8D7-C1A7-BA34C9BC9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833" y="3026911"/>
            <a:ext cx="4775126" cy="140538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043CC60-E5FE-1CEB-A8D3-5EDD15489F38}"/>
              </a:ext>
            </a:extLst>
          </p:cNvPr>
          <p:cNvSpPr txBox="1"/>
          <p:nvPr/>
        </p:nvSpPr>
        <p:spPr>
          <a:xfrm>
            <a:off x="788760" y="4964842"/>
            <a:ext cx="2151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en-US" b="1" dirty="0" err="1">
                <a:solidFill>
                  <a:srgbClr val="CBD5E1"/>
                </a:solidFill>
                <a:latin typeface="Roboto Medium"/>
              </a:rPr>
              <a:t>Rotación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de 90°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sobre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eje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Z</a:t>
            </a:r>
          </a:p>
          <a:p>
            <a:pPr algn="just"/>
            <a:endParaRPr lang="en-US" b="1" dirty="0">
              <a:solidFill>
                <a:srgbClr val="CBD5E1"/>
              </a:solidFill>
              <a:latin typeface="Roboto Medium"/>
            </a:endParaRPr>
          </a:p>
          <a:p>
            <a:pPr marL="342900" indent="-342900" algn="just">
              <a:buAutoNum type="arabicParenR"/>
            </a:pPr>
            <a:r>
              <a:rPr lang="en-US" b="1" dirty="0" err="1">
                <a:solidFill>
                  <a:srgbClr val="CBD5E1"/>
                </a:solidFill>
                <a:latin typeface="Roboto Medium"/>
              </a:rPr>
              <a:t>Rotación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de 90°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sobre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eje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Y </a:t>
            </a:r>
            <a:endParaRPr lang="en-US" b="1" dirty="0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04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A906A-DB9C-E706-EAE7-ACEB8AEE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13A8C48-2DB4-776E-FE4A-4ED726BF73FA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A86B4D-8646-22CD-8D85-50728290EE72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7AE5AA-CC22-4E73-BEAB-75A671FE8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543"/>
          <a:stretch>
            <a:fillRect/>
          </a:stretch>
        </p:blipFill>
        <p:spPr>
          <a:xfrm>
            <a:off x="844164" y="1391971"/>
            <a:ext cx="5525271" cy="2538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DF9F52-12A9-8DC9-7321-72E2B70CD7BE}"/>
              </a:ext>
            </a:extLst>
          </p:cNvPr>
          <p:cNvSpPr txBox="1"/>
          <p:nvPr/>
        </p:nvSpPr>
        <p:spPr>
          <a:xfrm>
            <a:off x="7355852" y="1425473"/>
            <a:ext cx="3127375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Matrices </a:t>
            </a:r>
            <a:r>
              <a:rPr lang="en-US"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Rotacionales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0610D-6EF5-19F4-8D3B-90C2551D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852" y="1934762"/>
            <a:ext cx="3353268" cy="1114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D781B4-7F6B-7866-CBF3-BB01D32D7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431" y="3270091"/>
            <a:ext cx="3624618" cy="1994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8E603C-28DF-782A-75B3-B18E2B7DE9EE}"/>
                  </a:ext>
                </a:extLst>
              </p:cNvPr>
              <p:cNvSpPr txBox="1"/>
              <p:nvPr/>
            </p:nvSpPr>
            <p:spPr>
              <a:xfrm>
                <a:off x="692033" y="4442852"/>
                <a:ext cx="61214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Cada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giro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alrededor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de un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eje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coordenado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se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representa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por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una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matriz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de 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que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transforma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las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coordenadas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de un vector.</a:t>
                </a:r>
                <a:endParaRPr lang="en-US" dirty="0">
                  <a:solidFill>
                    <a:srgbClr val="CBD5E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8E603C-28DF-782A-75B3-B18E2B7DE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3" y="4442852"/>
                <a:ext cx="6121400" cy="923330"/>
              </a:xfrm>
              <a:prstGeom prst="rect">
                <a:avLst/>
              </a:prstGeom>
              <a:blipFill>
                <a:blip r:embed="rId5"/>
                <a:stretch>
                  <a:fillRect l="-896" t="-3311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269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8EB81-A1AF-8ADC-35FA-F2AB1627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92B6FE7-52F1-C80B-D58F-16300C4F6120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: NO CONMUTATIVIDAD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4B4149-B59D-CE28-153D-6BEED49A9BA5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C08DE-8E24-EEF0-D28A-ADD259AD8A89}"/>
              </a:ext>
            </a:extLst>
          </p:cNvPr>
          <p:cNvSpPr txBox="1"/>
          <p:nvPr/>
        </p:nvSpPr>
        <p:spPr>
          <a:xfrm>
            <a:off x="454728" y="1473179"/>
            <a:ext cx="11282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Planteamiento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Realizar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dos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giros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órdenes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posibles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demostrar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forma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numérica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 no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conmutatividad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composición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rotaciones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3201A-6CF5-42B0-26E2-5358D2CFB1A2}"/>
                  </a:ext>
                </a:extLst>
              </p:cNvPr>
              <p:cNvSpPr txBox="1"/>
              <p:nvPr/>
            </p:nvSpPr>
            <p:spPr>
              <a:xfrm>
                <a:off x="454728" y="2382658"/>
                <a:ext cx="61214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b="1" dirty="0">
                    <a:solidFill>
                      <a:schemeClr val="bg2"/>
                    </a:solidFill>
                    <a:effectLst/>
                    <a:latin typeface="+mn-lt"/>
                  </a:rPr>
                  <a:t>DESARROLLO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 err="1">
                    <a:solidFill>
                      <a:schemeClr val="bg2"/>
                    </a:solidFill>
                    <a:effectLst/>
                    <a:latin typeface="+mn-lt"/>
                  </a:rPr>
                  <a:t>Rotación</a:t>
                </a:r>
                <a:r>
                  <a:rPr lang="en-US" b="1" dirty="0">
                    <a:solidFill>
                      <a:schemeClr val="bg2"/>
                    </a:solidFill>
                    <a:effectLst/>
                    <a:latin typeface="+mn-lt"/>
                  </a:rPr>
                  <a:t> 1:</a:t>
                </a:r>
                <a:r>
                  <a:rPr lang="en-US" dirty="0">
                    <a:solidFill>
                      <a:schemeClr val="bg2"/>
                    </a:solidFill>
                    <a:effectLst/>
                    <a:latin typeface="+mn-lt"/>
                  </a:rPr>
                  <a:t> 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Guiñada (Yaw)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sobre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eje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Z,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denotada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por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ángulo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.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radianes</m:t>
                    </m:r>
                    <m:r>
                      <a:rPr lang="en-US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lvl="0"/>
                <a:endParaRPr lang="en-US" dirty="0">
                  <a:solidFill>
                    <a:schemeClr val="bg2"/>
                  </a:solidFill>
                  <a:effectLst/>
                  <a:latin typeface="+mn-l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 err="1">
                    <a:solidFill>
                      <a:schemeClr val="bg2"/>
                    </a:solidFill>
                    <a:effectLst/>
                    <a:latin typeface="+mn-lt"/>
                  </a:rPr>
                  <a:t>Rotación</a:t>
                </a:r>
                <a:r>
                  <a:rPr lang="en-US" b="1" dirty="0">
                    <a:solidFill>
                      <a:schemeClr val="bg2"/>
                    </a:solidFill>
                    <a:effectLst/>
                    <a:latin typeface="+mn-lt"/>
                  </a:rPr>
                  <a:t> 2:</a:t>
                </a:r>
                <a:r>
                  <a:rPr lang="en-US" dirty="0">
                    <a:solidFill>
                      <a:schemeClr val="bg2"/>
                    </a:solidFill>
                    <a:effectLst/>
                    <a:latin typeface="+mn-lt"/>
                  </a:rPr>
                  <a:t> 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Cabeceo (Pitch)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sobre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eje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Y,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denotada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por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ángulo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  <m:r>
                      <a:rPr lang="el-GR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.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 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radianes</m:t>
                    </m:r>
                    <m: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bg2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3201A-6CF5-42B0-26E2-5358D2CFB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28" y="2382658"/>
                <a:ext cx="6121400" cy="1754326"/>
              </a:xfrm>
              <a:prstGeom prst="rect">
                <a:avLst/>
              </a:prstGeom>
              <a:blipFill>
                <a:blip r:embed="rId2"/>
                <a:stretch>
                  <a:fillRect l="-896" t="-2083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275F375-39FD-86DD-1E37-B4C17DBC16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332"/>
          <a:stretch>
            <a:fillRect/>
          </a:stretch>
        </p:blipFill>
        <p:spPr>
          <a:xfrm>
            <a:off x="6576128" y="4539579"/>
            <a:ext cx="5308600" cy="16904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9EAE61-EA79-CFAF-A6EC-F6508CD29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640" y="4387791"/>
            <a:ext cx="3624618" cy="199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36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CD00F-7A2C-6C57-4046-653F3103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084BF0D-21F1-7CDA-F9FB-7EA951B41E0A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: NO CONMUTATIVIDAD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39C6AA-E6A8-D796-3FBA-DECF41F3DFC2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0F67B-97A8-C8EE-AD5D-08D0190668F4}"/>
              </a:ext>
            </a:extLst>
          </p:cNvPr>
          <p:cNvSpPr txBox="1"/>
          <p:nvPr/>
        </p:nvSpPr>
        <p:spPr>
          <a:xfrm>
            <a:off x="3020128" y="2438556"/>
            <a:ext cx="5491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Fórmula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general de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multiplicación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entre matrices.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22A1D-85DD-F9DB-BAC4-6ECAE29AD4F2}"/>
              </a:ext>
            </a:extLst>
          </p:cNvPr>
          <p:cNvSpPr txBox="1"/>
          <p:nvPr/>
        </p:nvSpPr>
        <p:spPr>
          <a:xfrm>
            <a:off x="454728" y="1473179"/>
            <a:ext cx="11282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determinal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final luego de dos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las dos matrices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rotacionales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multiplicarse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entre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sí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04593B-5FFE-9AD4-0D88-4DDFBAF19F54}"/>
                  </a:ext>
                </a:extLst>
              </p:cNvPr>
              <p:cNvSpPr txBox="1"/>
              <p:nvPr/>
            </p:nvSpPr>
            <p:spPr>
              <a:xfrm>
                <a:off x="-577850" y="2873916"/>
                <a:ext cx="1334770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04593B-5FFE-9AD4-0D88-4DDFBAF19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7850" y="2873916"/>
                <a:ext cx="13347700" cy="972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F631E6-97AB-68F0-AA7A-867501D17FD8}"/>
                  </a:ext>
                </a:extLst>
              </p:cNvPr>
              <p:cNvSpPr txBox="1"/>
              <p:nvPr/>
            </p:nvSpPr>
            <p:spPr>
              <a:xfrm>
                <a:off x="-319972" y="4601024"/>
                <a:ext cx="6680200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𝒛𝒚</m:t>
                          </m:r>
                        </m:sub>
                      </m:sSub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F631E6-97AB-68F0-AA7A-867501D17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9972" y="4601024"/>
                <a:ext cx="6680200" cy="8249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AEF1EC-6EE8-C049-03E7-64160C560B73}"/>
                  </a:ext>
                </a:extLst>
              </p:cNvPr>
              <p:cNvSpPr txBox="1"/>
              <p:nvPr/>
            </p:nvSpPr>
            <p:spPr>
              <a:xfrm>
                <a:off x="5511800" y="4601024"/>
                <a:ext cx="6680200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𝒚𝒛</m:t>
                          </m:r>
                        </m:sub>
                      </m:sSub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AEF1EC-6EE8-C049-03E7-64160C560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4601024"/>
                <a:ext cx="6680200" cy="8249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78C5B1-2411-1038-E1ED-B45DEB07240D}"/>
                  </a:ext>
                </a:extLst>
              </p:cNvPr>
              <p:cNvSpPr txBox="1"/>
              <p:nvPr/>
            </p:nvSpPr>
            <p:spPr>
              <a:xfrm>
                <a:off x="2667000" y="5670131"/>
                <a:ext cx="6680200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Como se </a:t>
                </a:r>
                <a:r>
                  <a:rPr lang="en-US" dirty="0" err="1">
                    <a:solidFill>
                      <a:schemeClr val="bg1"/>
                    </a:solidFill>
                  </a:rPr>
                  <a:t>evidencia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numéricamente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en</a:t>
                </a:r>
                <a:r>
                  <a:rPr lang="en-US" dirty="0">
                    <a:solidFill>
                      <a:schemeClr val="bg1"/>
                    </a:solidFill>
                  </a:rPr>
                  <a:t> las matrices </a:t>
                </a:r>
                <a:r>
                  <a:rPr lang="en-US" dirty="0" err="1">
                    <a:solidFill>
                      <a:schemeClr val="bg1"/>
                    </a:solidFill>
                  </a:rPr>
                  <a:t>resultantes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𝑧𝑦</m:t>
                        </m:r>
                      </m:sub>
                    </m:sSub>
                    <m: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𝑦𝑧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78C5B1-2411-1038-E1ED-B45DEB072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670131"/>
                <a:ext cx="6680200" cy="697114"/>
              </a:xfrm>
              <a:prstGeom prst="rect">
                <a:avLst/>
              </a:prstGeom>
              <a:blipFill>
                <a:blip r:embed="rId5"/>
                <a:stretch>
                  <a:fillRect l="-822" t="-3509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03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C00E8-DD52-64D9-68E0-3CD645D6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A29733F-8CC0-CB74-51ED-7E23DE081277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BD4CC4-D0D7-2772-AEAE-C61579808DF3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2F3B5-6BFE-4750-6D94-9D6C5F8BF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13" y="2533522"/>
            <a:ext cx="4836787" cy="33647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1DBA89-F33D-1426-D27D-9D5AA4D5A941}"/>
              </a:ext>
            </a:extLst>
          </p:cNvPr>
          <p:cNvSpPr txBox="1"/>
          <p:nvPr/>
        </p:nvSpPr>
        <p:spPr>
          <a:xfrm>
            <a:off x="6486525" y="3754217"/>
            <a:ext cx="50607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Toda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translación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un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solido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rigido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puede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representar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mediante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 vector (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px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pz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espacio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3D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74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9196C-E48C-2B70-C51E-8411E2AB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6FCAD83-1E33-9AC4-6A99-3E5D8E8BB566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BF389D-DA74-B410-6FD9-BCA78479FB91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CE443-3111-0F11-FF21-E66A59E1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390" b="18959"/>
          <a:stretch>
            <a:fillRect/>
          </a:stretch>
        </p:blipFill>
        <p:spPr>
          <a:xfrm>
            <a:off x="571500" y="2153220"/>
            <a:ext cx="5732538" cy="4431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4A4BDF-A9C6-026F-D5AB-EB5C7FEC9130}"/>
              </a:ext>
            </a:extLst>
          </p:cNvPr>
          <p:cNvSpPr txBox="1"/>
          <p:nvPr/>
        </p:nvSpPr>
        <p:spPr>
          <a:xfrm>
            <a:off x="6916511" y="2119726"/>
            <a:ext cx="4703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Planteamiento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Evaluar</a:t>
            </a:r>
            <a:r>
              <a:rPr lang="en-US" dirty="0">
                <a:solidFill>
                  <a:srgbClr val="CBD5E1"/>
                </a:solidFill>
              </a:rPr>
              <a:t>  la </a:t>
            </a:r>
            <a:r>
              <a:rPr lang="en-US" dirty="0" err="1">
                <a:solidFill>
                  <a:srgbClr val="CBD5E1"/>
                </a:solidFill>
              </a:rPr>
              <a:t>posición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espacial</a:t>
            </a:r>
            <a:r>
              <a:rPr lang="en-US" dirty="0">
                <a:solidFill>
                  <a:srgbClr val="CBD5E1"/>
                </a:solidFill>
              </a:rPr>
              <a:t> de la </a:t>
            </a:r>
            <a:r>
              <a:rPr lang="en-US" dirty="0" err="1">
                <a:solidFill>
                  <a:srgbClr val="CBD5E1"/>
                </a:solidFill>
              </a:rPr>
              <a:t>articulación</a:t>
            </a:r>
            <a:r>
              <a:rPr lang="en-US" dirty="0">
                <a:solidFill>
                  <a:srgbClr val="CBD5E1"/>
                </a:solidFill>
              </a:rPr>
              <a:t> 2 (</a:t>
            </a:r>
            <a:r>
              <a:rPr lang="en-US" dirty="0" err="1">
                <a:solidFill>
                  <a:srgbClr val="CBD5E1"/>
                </a:solidFill>
              </a:rPr>
              <a:t>codo</a:t>
            </a:r>
            <a:r>
              <a:rPr lang="en-US" dirty="0">
                <a:solidFill>
                  <a:srgbClr val="CBD5E1"/>
                </a:solidFill>
              </a:rPr>
              <a:t>) </a:t>
            </a:r>
            <a:r>
              <a:rPr lang="en-US" dirty="0" err="1">
                <a:solidFill>
                  <a:srgbClr val="CBD5E1"/>
                </a:solidFill>
              </a:rPr>
              <a:t>tras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una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rotación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en</a:t>
            </a:r>
            <a:r>
              <a:rPr lang="en-US" dirty="0">
                <a:solidFill>
                  <a:srgbClr val="CBD5E1"/>
                </a:solidFill>
              </a:rPr>
              <a:t> la base, </a:t>
            </a:r>
            <a:r>
              <a:rPr lang="en-US" dirty="0" err="1">
                <a:solidFill>
                  <a:srgbClr val="CBD5E1"/>
                </a:solidFill>
              </a:rPr>
              <a:t>partiendo</a:t>
            </a:r>
            <a:r>
              <a:rPr lang="en-US" dirty="0">
                <a:solidFill>
                  <a:srgbClr val="CBD5E1"/>
                </a:solidFill>
              </a:rPr>
              <a:t> de las </a:t>
            </a:r>
            <a:r>
              <a:rPr lang="en-US" dirty="0" err="1">
                <a:solidFill>
                  <a:srgbClr val="CBD5E1"/>
                </a:solidFill>
              </a:rPr>
              <a:t>dimensiones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mecánicas</a:t>
            </a:r>
            <a:r>
              <a:rPr lang="en-US" dirty="0">
                <a:solidFill>
                  <a:srgbClr val="CBD5E1"/>
                </a:solidFill>
              </a:rPr>
              <a:t> del </a:t>
            </a:r>
            <a:r>
              <a:rPr lang="en-US" dirty="0" err="1">
                <a:solidFill>
                  <a:srgbClr val="CBD5E1"/>
                </a:solidFill>
              </a:rPr>
              <a:t>manipulador</a:t>
            </a:r>
            <a:r>
              <a:rPr lang="en-US" dirty="0">
                <a:solidFill>
                  <a:srgbClr val="CBD5E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6AF23-372A-C87C-6116-42DAA0C0552E}"/>
                  </a:ext>
                </a:extLst>
              </p:cNvPr>
              <p:cNvSpPr txBox="1"/>
              <p:nvPr/>
            </p:nvSpPr>
            <p:spPr>
              <a:xfrm>
                <a:off x="6804025" y="3559008"/>
                <a:ext cx="62357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b="1">
                    <a:solidFill>
                      <a:srgbClr val="CBD5E1"/>
                    </a:solidFill>
                    <a:effectLst/>
                    <a:latin typeface="+mn-lt"/>
                  </a:rPr>
                  <a:t>Datos del Sistema:</a:t>
                </a:r>
                <a:endParaRPr lang="en-US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Rotación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de la base (Yaw):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Altura de la base (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Traslación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Z):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=138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Longitud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del Brazo Posterior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=135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6AF23-372A-C87C-6116-42DAA0C05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025" y="3559008"/>
                <a:ext cx="6235700" cy="1200329"/>
              </a:xfrm>
              <a:prstGeom prst="rect">
                <a:avLst/>
              </a:prstGeom>
              <a:blipFill>
                <a:blip r:embed="rId3"/>
                <a:stretch>
                  <a:fillRect l="-782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1A53CC-B1EC-0ECF-CE4A-C236BEA15BD8}"/>
                  </a:ext>
                </a:extLst>
              </p:cNvPr>
              <p:cNvSpPr txBox="1"/>
              <p:nvPr/>
            </p:nvSpPr>
            <p:spPr>
              <a:xfrm>
                <a:off x="6804025" y="5291900"/>
                <a:ext cx="4276725" cy="664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Vector de la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articulación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2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respecto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al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sistema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móvil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	: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d>
                          <m:dPr>
                            <m:ctrlP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  <m:t>135,0,0,1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solidFill>
                    <a:srgbClr val="CBD5E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1A53CC-B1EC-0ECF-CE4A-C236BEA15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025" y="5291900"/>
                <a:ext cx="4276725" cy="664926"/>
              </a:xfrm>
              <a:prstGeom prst="rect">
                <a:avLst/>
              </a:prstGeom>
              <a:blipFill>
                <a:blip r:embed="rId4"/>
                <a:stretch>
                  <a:fillRect l="-1140" t="-4587" b="-13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862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04C17-D915-9BA7-6EDB-252AE6CC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7234B21-3748-A267-FE78-EEDEA280C732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72C778-2E7F-885E-D80F-513C732FDC66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FE055-FE87-AE5B-0C11-9BF45B9F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457"/>
          <a:stretch>
            <a:fillRect/>
          </a:stretch>
        </p:blipFill>
        <p:spPr>
          <a:xfrm>
            <a:off x="302240" y="2336800"/>
            <a:ext cx="3624618" cy="908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8A4535-441F-422F-BC81-5B9908A02B16}"/>
                  </a:ext>
                </a:extLst>
              </p:cNvPr>
              <p:cNvSpPr txBox="1"/>
              <p:nvPr/>
            </p:nvSpPr>
            <p:spPr>
              <a:xfrm>
                <a:off x="1356428" y="3244950"/>
                <a:ext cx="112825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>
                    <a:solidFill>
                      <a:srgbClr val="CBD5E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Rotación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z</m:t>
                        </m:r>
                      </m:sub>
                    </m:sSub>
                  </m:oMath>
                </a14:m>
                <a:endParaRPr lang="en-US" dirty="0">
                  <a:solidFill>
                    <a:srgbClr val="CBD5E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8A4535-441F-422F-BC81-5B9908A0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428" y="3244950"/>
                <a:ext cx="11282544" cy="369332"/>
              </a:xfrm>
              <a:prstGeom prst="rect">
                <a:avLst/>
              </a:prstGeom>
              <a:blipFill>
                <a:blip r:embed="rId3"/>
                <a:stretch>
                  <a:fillRect l="-48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4572E3-1E67-10BE-5CD6-2C80F39538E1}"/>
                  </a:ext>
                </a:extLst>
              </p:cNvPr>
              <p:cNvSpPr txBox="1"/>
              <p:nvPr/>
            </p:nvSpPr>
            <p:spPr>
              <a:xfrm>
                <a:off x="3425824" y="2213437"/>
                <a:ext cx="9464675" cy="1129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4572E3-1E67-10BE-5CD6-2C80F395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824" y="2213437"/>
                <a:ext cx="9464675" cy="1129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5F8C5-B707-B97E-4391-F19B38E6405D}"/>
                  </a:ext>
                </a:extLst>
              </p:cNvPr>
              <p:cNvSpPr txBox="1"/>
              <p:nvPr/>
            </p:nvSpPr>
            <p:spPr>
              <a:xfrm>
                <a:off x="302240" y="5162550"/>
                <a:ext cx="10264775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d>
                            <m:dPr>
                              <m:ctrlP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d>
                            <m:dPr>
                              <m:ctrlP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𝟏𝟑𝟖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𝟎𝟎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b="0" i="0">
                          <a:solidFill>
                            <a:srgbClr val="CBD5E1"/>
                          </a:solidFill>
                          <a:latin typeface="+mn-lt"/>
                        </a:rPr>
                        <m:t>mm</m:t>
                      </m:r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5F8C5-B707-B97E-4391-F19B38E64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40" y="5162550"/>
                <a:ext cx="10264775" cy="1112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562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000A2-669C-1A8F-42AC-1C0DECC9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28996EA-2AEF-D4BD-6A6E-45FDAC5047AC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5756A1-EA45-1348-BD2E-7A1045F8F434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BA423-8D76-D9F9-038E-E2CD1C8095B3}"/>
              </a:ext>
            </a:extLst>
          </p:cNvPr>
          <p:cNvSpPr txBox="1"/>
          <p:nvPr/>
        </p:nvSpPr>
        <p:spPr>
          <a:xfrm>
            <a:off x="571500" y="1987034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BD5E1"/>
                </a:solidFill>
              </a:rPr>
              <a:t>Sistematización</a:t>
            </a:r>
            <a:r>
              <a:rPr lang="en-US" b="1" dirty="0">
                <a:solidFill>
                  <a:srgbClr val="CBD5E1"/>
                </a:solidFill>
              </a:rPr>
              <a:t> </a:t>
            </a:r>
            <a:r>
              <a:rPr lang="en-US" b="1" dirty="0" err="1">
                <a:solidFill>
                  <a:srgbClr val="CBD5E1"/>
                </a:solidFill>
              </a:rPr>
              <a:t>mediante</a:t>
            </a:r>
            <a:r>
              <a:rPr lang="en-US" b="1" dirty="0">
                <a:solidFill>
                  <a:srgbClr val="CBD5E1"/>
                </a:solidFill>
              </a:rPr>
              <a:t> el </a:t>
            </a:r>
            <a:r>
              <a:rPr lang="en-US" b="1" dirty="0" err="1">
                <a:solidFill>
                  <a:srgbClr val="CBD5E1"/>
                </a:solidFill>
              </a:rPr>
              <a:t>Algoritmo</a:t>
            </a:r>
            <a:r>
              <a:rPr lang="en-US" b="1" dirty="0">
                <a:solidFill>
                  <a:srgbClr val="CBD5E1"/>
                </a:solidFill>
              </a:rPr>
              <a:t> D-H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681105-8483-ADDB-F787-4EE57A7DE123}"/>
                  </a:ext>
                </a:extLst>
              </p:cNvPr>
              <p:cNvSpPr txBox="1"/>
              <p:nvPr/>
            </p:nvSpPr>
            <p:spPr>
              <a:xfrm>
                <a:off x="450850" y="2690336"/>
                <a:ext cx="62357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b="1">
                    <a:solidFill>
                      <a:srgbClr val="CBD5E1"/>
                    </a:solidFill>
                    <a:effectLst/>
                    <a:latin typeface="+mn-lt"/>
                  </a:rPr>
                  <a:t>Definición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de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Parámetros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D-H para el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Eslabón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: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Ángulo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de 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articulación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)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=138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Desplazamiento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Z - Altura de base)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=135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Longitud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X - Brazo posterior)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Torsión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del 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eslabón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)</a:t>
                </a:r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681105-8483-ADDB-F787-4EE57A7DE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2690336"/>
                <a:ext cx="6235700" cy="1477328"/>
              </a:xfrm>
              <a:prstGeom prst="rect">
                <a:avLst/>
              </a:prstGeom>
              <a:blipFill>
                <a:blip r:embed="rId2"/>
                <a:stretch>
                  <a:fillRect l="-88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CB37B01-8E39-A729-7F12-8271F8C3BBA5}"/>
              </a:ext>
            </a:extLst>
          </p:cNvPr>
          <p:cNvSpPr txBox="1"/>
          <p:nvPr/>
        </p:nvSpPr>
        <p:spPr>
          <a:xfrm>
            <a:off x="450850" y="4958834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BD5E1"/>
                </a:solidFill>
              </a:rPr>
              <a:t>Matriz</a:t>
            </a:r>
            <a:r>
              <a:rPr lang="en-US" b="1" dirty="0">
                <a:solidFill>
                  <a:srgbClr val="CBD5E1"/>
                </a:solidFill>
              </a:rPr>
              <a:t> General D-H: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08DB1C-99D7-FF2E-0666-E18C99CEEF28}"/>
                  </a:ext>
                </a:extLst>
              </p:cNvPr>
              <p:cNvSpPr txBox="1"/>
              <p:nvPr/>
            </p:nvSpPr>
            <p:spPr>
              <a:xfrm>
                <a:off x="2546350" y="4606147"/>
                <a:ext cx="6235700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  <m:func>
                                  <m:func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𝐜𝐨𝐬</m:t>
                                    </m:r>
                                  </m:fName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𝛉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  <m:func>
                                  <m:func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𝐬𝐢𝐧</m:t>
                                    </m:r>
                                  </m:fName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𝛉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08DB1C-99D7-FF2E-0666-E18C99CEE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50" y="4606147"/>
                <a:ext cx="6235700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964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D605C-6035-8846-13D1-247E8B19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B0F1486-07AD-7681-BBA0-0F2C90F25F21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C0492-1FB8-8E72-DED0-E86A938669CB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2284A9-50CD-AB6C-C53C-831116FA3A95}"/>
                  </a:ext>
                </a:extLst>
              </p:cNvPr>
              <p:cNvSpPr txBox="1"/>
              <p:nvPr/>
            </p:nvSpPr>
            <p:spPr>
              <a:xfrm>
                <a:off x="933450" y="2299524"/>
                <a:ext cx="9074150" cy="1129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𝟏𝟑𝟓</m:t>
                                </m:r>
                                <m:d>
                                  <m:d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𝟕𝟎𝟕𝟏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𝟏𝟑𝟓</m:t>
                                </m:r>
                                <m:d>
                                  <m:d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𝟕𝟎𝟕𝟏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𝟏𝟑𝟖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𝟎𝟎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2284A9-50CD-AB6C-C53C-831116FA3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2299524"/>
                <a:ext cx="9074150" cy="11294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63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95500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095500"/>
            <a:ext cx="49530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FFFFF"/>
                </a:solidFill>
                <a:latin typeface="Roboto Medium"/>
              </a:rPr>
              <a:t>Transmisiones y Reductores: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El Dobot Magician utiliza motores paso a paso equipados con engranajes reductores planetarios integrados directamente en sus articulaciones principales.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505200"/>
            <a:ext cx="4953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FFFFF"/>
                </a:solidFill>
                <a:latin typeface="Roboto Medium"/>
              </a:rPr>
              <a:t>Programación: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Materializa el concepto de Guiado mediante su modo </a:t>
            </a:r>
            <a:r>
              <a:rPr sz="1500" b="0" i="1" u="none">
                <a:solidFill>
                  <a:srgbClr val="CBD5E1"/>
                </a:solidFill>
                <a:latin typeface="Roboto"/>
              </a:rPr>
              <a:t>"Teach &amp; Play"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para el registro de coordenadas espaciales, y el de Texto mediante entornos estructurados como DobotStudio o rutinas puras en Python (Craig, J. J.).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5219700"/>
            <a:ext cx="49530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FFFFF"/>
                </a:solidFill>
                <a:latin typeface="Roboto Medium"/>
              </a:rPr>
              <a:t>Orientación: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Su efector final (servo) controla independientemente el Yaw de la herramienta, el cual queda definido matemáticamente por la resolución de la matriz cinemática (Barrientos et al.).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105025"/>
            <a:ext cx="5219700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III. CIERRE: CORRESPONDENCIA EN EL DOBOT MAGICIAN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14550"/>
            <a:ext cx="1143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24250"/>
            <a:ext cx="1143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38750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C5786-0E5E-C87C-3AD0-BBC9CF75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: esquinas redondeadas 12">
            <a:extLst>
              <a:ext uri="{FF2B5EF4-FFF2-40B4-BE49-F238E27FC236}">
                <a16:creationId xmlns:a16="http://schemas.microsoft.com/office/drawing/2014/main" id="{69283D5A-9100-C9BF-95CE-C94B57793781}"/>
              </a:ext>
            </a:extLst>
          </p:cNvPr>
          <p:cNvSpPr/>
          <p:nvPr/>
        </p:nvSpPr>
        <p:spPr>
          <a:xfrm>
            <a:off x="8122615" y="1298727"/>
            <a:ext cx="3288772" cy="3898217"/>
          </a:xfrm>
          <a:prstGeom prst="roundRect">
            <a:avLst/>
          </a:prstGeom>
          <a:solidFill>
            <a:srgbClr val="00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: esquinas redondeadas 7">
            <a:extLst>
              <a:ext uri="{FF2B5EF4-FFF2-40B4-BE49-F238E27FC236}">
                <a16:creationId xmlns:a16="http://schemas.microsoft.com/office/drawing/2014/main" id="{B48C3D47-9BC4-4B1E-D400-A3F3317E42A4}"/>
              </a:ext>
            </a:extLst>
          </p:cNvPr>
          <p:cNvSpPr/>
          <p:nvPr/>
        </p:nvSpPr>
        <p:spPr>
          <a:xfrm>
            <a:off x="3945688" y="1298727"/>
            <a:ext cx="3288772" cy="3898217"/>
          </a:xfrm>
          <a:prstGeom prst="roundRect">
            <a:avLst/>
          </a:prstGeom>
          <a:solidFill>
            <a:srgbClr val="00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3">
            <a:extLst>
              <a:ext uri="{FF2B5EF4-FFF2-40B4-BE49-F238E27FC236}">
                <a16:creationId xmlns:a16="http://schemas.microsoft.com/office/drawing/2014/main" id="{319C3C0F-4D2D-DAB6-AE26-5E3615A7C86A}"/>
              </a:ext>
            </a:extLst>
          </p:cNvPr>
          <p:cNvSpPr/>
          <p:nvPr/>
        </p:nvSpPr>
        <p:spPr>
          <a:xfrm>
            <a:off x="916273" y="1298727"/>
            <a:ext cx="2350323" cy="3898217"/>
          </a:xfrm>
          <a:prstGeom prst="roundRect">
            <a:avLst/>
          </a:prstGeom>
          <a:solidFill>
            <a:srgbClr val="00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216FE1-BB4F-2007-D5CE-68161F373B24}"/>
              </a:ext>
            </a:extLst>
          </p:cNvPr>
          <p:cNvSpPr txBox="1"/>
          <p:nvPr/>
        </p:nvSpPr>
        <p:spPr>
          <a:xfrm>
            <a:off x="916273" y="871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noProof="0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Dobot</a:t>
            </a:r>
            <a:r>
              <a:rPr lang="es-CO" noProof="0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CO" noProof="0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magician</a:t>
            </a:r>
            <a:r>
              <a:rPr lang="es-CO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es-CO" noProof="0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2" name="Imagen 1">
            <a:extLst>
              <a:ext uri="{FF2B5EF4-FFF2-40B4-BE49-F238E27FC236}">
                <a16:creationId xmlns:a16="http://schemas.microsoft.com/office/drawing/2014/main" id="{6C6557BB-39FB-3890-BB07-A568005B0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73" y="1433861"/>
            <a:ext cx="2682594" cy="3763083"/>
          </a:xfrm>
          <a:prstGeom prst="rect">
            <a:avLst/>
          </a:prstGeom>
        </p:spPr>
      </p:pic>
      <p:pic>
        <p:nvPicPr>
          <p:cNvPr id="24" name="Imagen 4">
            <a:extLst>
              <a:ext uri="{FF2B5EF4-FFF2-40B4-BE49-F238E27FC236}">
                <a16:creationId xmlns:a16="http://schemas.microsoft.com/office/drawing/2014/main" id="{65DEB57F-2B09-0C77-CB36-C2CDE687E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79" y="1375693"/>
            <a:ext cx="3389190" cy="3144853"/>
          </a:xfrm>
          <a:prstGeom prst="rect">
            <a:avLst/>
          </a:prstGeom>
        </p:spPr>
      </p:pic>
      <p:pic>
        <p:nvPicPr>
          <p:cNvPr id="26" name="Imagen 10">
            <a:extLst>
              <a:ext uri="{FF2B5EF4-FFF2-40B4-BE49-F238E27FC236}">
                <a16:creationId xmlns:a16="http://schemas.microsoft.com/office/drawing/2014/main" id="{B1936145-F100-D39C-065C-1A3A51392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90" y="1240559"/>
            <a:ext cx="34290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70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0450" y="2239416"/>
            <a:ext cx="8791098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0E5FF"/>
                </a:solidFill>
                <a:latin typeface="Montserrat"/>
              </a:rPr>
              <a:t>IV. Bibliografía Obligatoria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087" y="3553866"/>
            <a:ext cx="103536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Roboto"/>
              </a:rPr>
              <a:t>Barrientos, A. </a:t>
            </a:r>
            <a:r>
              <a:rPr sz="1800" b="0" i="1" u="none">
                <a:solidFill>
                  <a:srgbClr val="CBD5E1"/>
                </a:solidFill>
                <a:latin typeface="Roboto"/>
              </a:rPr>
              <a:t>et al.</a:t>
            </a:r>
            <a:r>
              <a:rPr sz="1800" b="0" i="0" u="none">
                <a:solidFill>
                  <a:srgbClr val="CBD5E1"/>
                </a:solidFill>
                <a:latin typeface="Roboto"/>
              </a:rPr>
              <a:t> (2007). </a:t>
            </a:r>
            <a:r>
              <a:rPr sz="1800" b="0" i="1" u="none">
                <a:solidFill>
                  <a:srgbClr val="CBD5E1"/>
                </a:solidFill>
                <a:latin typeface="Roboto"/>
              </a:rPr>
              <a:t>Fundamentos de robótica</a:t>
            </a:r>
            <a:r>
              <a:rPr sz="1800" b="0" i="0" u="none">
                <a:solidFill>
                  <a:srgbClr val="CBD5E1"/>
                </a:solidFill>
                <a:latin typeface="Roboto"/>
              </a:rPr>
              <a:t> (2.ª ed.). McGraw-Hill Interamericana de España.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087" y="4110037"/>
            <a:ext cx="103536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Roboto"/>
              </a:rPr>
              <a:t>Craig, J. J. (2011). </a:t>
            </a:r>
            <a:r>
              <a:rPr sz="1800" b="0" i="1" u="none">
                <a:solidFill>
                  <a:srgbClr val="CBD5E1"/>
                </a:solidFill>
                <a:latin typeface="Roboto"/>
              </a:rPr>
              <a:t>Robótica</a:t>
            </a:r>
            <a:r>
              <a:rPr sz="1800" b="0" i="0" u="none">
                <a:solidFill>
                  <a:srgbClr val="CBD5E1"/>
                </a:solidFill>
                <a:latin typeface="Roboto"/>
              </a:rPr>
              <a:t> (3.ª ed.). Pearson-Prentice Hall.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1442</Words>
  <Application>Microsoft Office PowerPoint</Application>
  <PresentationFormat>Widescreen</PresentationFormat>
  <Paragraphs>119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Google Sans Text</vt:lpstr>
      <vt:lpstr>Montserrat</vt:lpstr>
      <vt:lpstr>Montserrat Medium</vt:lpstr>
      <vt:lpstr>Roboto</vt:lpstr>
      <vt:lpstr>Roboto Light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Jesús Antonio Hernández Guarin</cp:lastModifiedBy>
  <cp:revision>7</cp:revision>
  <dcterms:created xsi:type="dcterms:W3CDTF">2013-01-27T09:14:16Z</dcterms:created>
  <dcterms:modified xsi:type="dcterms:W3CDTF">2026-09-04T01:55:33Z</dcterms:modified>
  <cp:category/>
</cp:coreProperties>
</file>